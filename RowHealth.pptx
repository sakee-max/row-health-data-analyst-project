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4" r:id="rId9"/>
    <p:sldId id="275" r:id="rId10"/>
    <p:sldId id="276" r:id="rId11"/>
    <p:sldId id="262" r:id="rId12"/>
    <p:sldId id="277" r:id="rId13"/>
    <p:sldId id="278" r:id="rId14"/>
    <p:sldId id="279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78"/>
    <a:srgbClr val="017E78"/>
    <a:srgbClr val="00605B"/>
    <a:srgbClr val="002E2C"/>
    <a:srgbClr val="062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83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2AF6D-373B-4392-BCD8-3C5B7EF8FCB6}" type="slidenum">
              <a:rPr lang="en-KE" smtClean="0"/>
              <a:t>7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03844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2AF6D-373B-4392-BCD8-3C5B7EF8FCB6}" type="slidenum">
              <a:rPr lang="en-KE" smtClean="0"/>
              <a:t>9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7044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566F-D7E7-578F-48E2-0BA00D94C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D9DDB-C811-710B-73D0-D22307D4D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29D93-4F4D-7776-1A57-BF1F9D4A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069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017E78"/>
                </a:solidFill>
              </a:defRPr>
            </a:lvl1pPr>
          </a:lstStyle>
          <a:p>
            <a:r>
              <a:rPr lang="en-US" dirty="0"/>
              <a:t>row health</a:t>
            </a:r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127C-B949-F219-323D-6AE387A0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rgbClr val="017E78"/>
                </a:solidFill>
              </a:defRPr>
            </a:lvl1pPr>
          </a:lstStyle>
          <a:p>
            <a:r>
              <a:rPr lang="en-US" dirty="0"/>
              <a:t>1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987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7CFD-7CA8-2958-B3A0-CBC3BEB1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8823D-4B84-0567-EE65-38B44B701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02A5-A885-2E96-B3F0-6AA7A827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C2DB9-6B73-7CDF-6B6D-3BFE9B0D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9D312-89C0-F981-B467-DD02F120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5372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F5CD-882F-CF9A-C76F-6AEE5857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94498-B5F1-7E6F-AFD5-6B007E9FB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D600D-46DF-1AF8-5FE4-131AB811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7E43E-73B6-E405-B9AD-8FCCD9EF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D8357-C5B0-7F40-544B-292A81E3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9000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A47C-F87B-F5C5-CE22-D91245EF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457F-A7D2-587A-6D0E-5EBD549A3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96110-45AF-438B-7C2A-4C77E5B4A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10DEB-1667-936E-4C8C-0897630C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4B942-3CBE-D468-1CDC-E475D656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0E819-3950-39D6-5E2B-DBD32F68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4215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DF24-E91B-4919-41F2-E0EEDD504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5B82E-BE19-FC67-7775-DBFBBD35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BFFC9-49D6-5397-997C-7A030A3C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DE4BC-CDE6-16A4-80E7-63C6B6D4D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E0A12-936F-063D-E4A5-DEEAF52B9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39234-B6D4-0329-8D38-C9E7352A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E5C2A-3AE4-F685-284B-CD203ACF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B0B36-C8D4-7A1A-3513-3254E55E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421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E7CE-2317-F16B-1EEB-0D9CEF84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4CFEC-0C1D-8B18-DCC9-3B9F7D1FBC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95C15-2504-BCE9-3BB3-29AE51C1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E0F19-FD9C-A662-6879-16701E83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62088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020DB-53E5-2632-15B7-3388B059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7DFFC-A49F-4B36-E487-5545DB8E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511D8-2C07-AF31-55D3-E0FB7113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9212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E2278-E102-5D2D-855A-9678376BF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300E4-0C2E-FCD4-D515-9FE5B61D1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D10D5-1E68-C0AB-4337-C515273FE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4572-D568-D7F1-42FA-263B0410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97352-BCDC-4A31-BC3E-7BC0964E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54EDA-B8FD-AE79-7249-9B6FCBB1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4373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69E7-6189-236C-76B1-AD0C539C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8861FE-F038-C9CD-EBDA-8AD2FA3217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01DD-3A2F-DF49-AC21-57537A66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10E72-BF85-9E2D-0557-A8C52A20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AC30C-7379-768D-F8AB-A237B4B2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C10E5-0722-68AF-86C4-72E5DA3C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5488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8787-1AE3-5F22-5A21-6BBBDA09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20CC6-7BED-DB61-4047-6749FB7A7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74C0B-9143-C4A6-B7C9-D94B48B8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53DD3-51C3-802F-CC76-725F7F90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3175A-182A-EBB7-6A2C-F5A594E1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1656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8F753-94B5-92AE-8464-52F554048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A62A7-5EB1-895C-9A82-F2F1A1592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CB0A5-8914-5E1C-4D2B-EB8F067E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652" y="6176964"/>
            <a:ext cx="2743200" cy="365125"/>
          </a:xfrm>
          <a:prstGeom prst="rect">
            <a:avLst/>
          </a:prstGeom>
        </p:spPr>
        <p:txBody>
          <a:bodyPr/>
          <a:lstStyle/>
          <a:p>
            <a:fld id="{04A96BA7-09EE-4029-BB0D-C4FD6FBA537F}" type="datetimeFigureOut">
              <a:rPr lang="en-KE" smtClean="0"/>
              <a:t>26/10/2026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DBBBB-1A55-9D77-768F-A6F708F9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127A7-7383-97B0-773D-73B13ADC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53F17-E647-4694-A938-F3401AA22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0822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6A6D5-FBFD-04A5-392C-19DAFECE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426A7-12CA-5523-6BCA-B9A5CE90A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A1482-BF2A-1D5C-8B32-523B539A5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  <a:p>
            <a:r>
              <a:rPr lang="en-US" dirty="0">
                <a:solidFill>
                  <a:srgbClr val="007E78"/>
                </a:solidFill>
              </a:rPr>
              <a:t>row health</a:t>
            </a:r>
            <a:endParaRPr lang="en-KE" dirty="0">
              <a:solidFill>
                <a:srgbClr val="007E78"/>
              </a:solidFill>
            </a:endParaRPr>
          </a:p>
          <a:p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F8677-516D-290A-9FAD-AB29977F8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0FAA-074E-9A26-D969-20BCB9B84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rgbClr val="007E78"/>
                </a:solidFill>
              </a:defRPr>
            </a:lvl1pPr>
          </a:lstStyle>
          <a:p>
            <a:r>
              <a:rPr lang="en-US" dirty="0"/>
              <a:t>1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817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D52751-7C82-D066-BA99-DA10384510D4}"/>
              </a:ext>
            </a:extLst>
          </p:cNvPr>
          <p:cNvSpPr txBox="1"/>
          <p:nvPr/>
        </p:nvSpPr>
        <p:spPr>
          <a:xfrm>
            <a:off x="3037114" y="1839686"/>
            <a:ext cx="6999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17E78"/>
                </a:solidFill>
                <a:ea typeface="Segoe UI Black" panose="020B0A02040204020203" pitchFamily="34" charset="0"/>
              </a:rPr>
              <a:t>row health</a:t>
            </a:r>
            <a:endParaRPr lang="en-KE" sz="9600" b="1" dirty="0">
              <a:solidFill>
                <a:srgbClr val="017E78"/>
              </a:solidFill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47AD6-CC90-8597-4963-4B949427BD76}"/>
              </a:ext>
            </a:extLst>
          </p:cNvPr>
          <p:cNvSpPr txBox="1"/>
          <p:nvPr/>
        </p:nvSpPr>
        <p:spPr>
          <a:xfrm>
            <a:off x="3418114" y="3429000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Marketing Insights &amp; Recommendations</a:t>
            </a:r>
            <a:endParaRPr lang="en-KE" sz="2000" b="1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86BF5-6C25-0732-F6B8-81CFE4E9C8E9}"/>
              </a:ext>
            </a:extLst>
          </p:cNvPr>
          <p:cNvSpPr txBox="1"/>
          <p:nvPr/>
        </p:nvSpPr>
        <p:spPr>
          <a:xfrm>
            <a:off x="3701143" y="3918857"/>
            <a:ext cx="4517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Campaign Performance</a:t>
            </a:r>
          </a:p>
          <a:p>
            <a:pPr algn="ctr"/>
            <a:r>
              <a:rPr lang="en-US" dirty="0">
                <a:solidFill>
                  <a:schemeClr val="bg2"/>
                </a:solidFill>
              </a:rPr>
              <a:t>Data Team</a:t>
            </a:r>
            <a:endParaRPr lang="en-K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35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4D33-8A6E-C276-94E1-677ADD67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A9634-E949-03F3-4024-75169863305F}"/>
              </a:ext>
            </a:extLst>
          </p:cNvPr>
          <p:cNvSpPr txBox="1"/>
          <p:nvPr/>
        </p:nvSpPr>
        <p:spPr>
          <a:xfrm>
            <a:off x="1034143" y="250371"/>
            <a:ext cx="1088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17E78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Table of Contents</a:t>
            </a:r>
            <a:endParaRPr lang="en-KE" sz="4800" dirty="0">
              <a:solidFill>
                <a:srgbClr val="017E78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386EF-E4BD-5D14-B82D-32C72BE7AA1A}"/>
              </a:ext>
            </a:extLst>
          </p:cNvPr>
          <p:cNvSpPr txBox="1"/>
          <p:nvPr/>
        </p:nvSpPr>
        <p:spPr>
          <a:xfrm>
            <a:off x="849085" y="1578429"/>
            <a:ext cx="105482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Segoe UI Variable Text" pitchFamily="2" charset="0"/>
              </a:rPr>
              <a:t>Project Overview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Segoe UI Variable Text" pitchFamily="2" charset="0"/>
              </a:rPr>
              <a:t>North Star Metrics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Segoe UI Variable Text" pitchFamily="2" charset="0"/>
              </a:rPr>
              <a:t>Insights Deep-Dive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Segoe UI Variable Text" pitchFamily="2" charset="0"/>
              </a:rPr>
              <a:t>Recommendations and Next Steps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Segoe UI Variable Text" pitchFamily="2" charset="0"/>
              </a:rPr>
              <a:t>Appendix</a:t>
            </a:r>
            <a:endParaRPr lang="en-KE" sz="2800" dirty="0">
              <a:latin typeface="Segoe UI Variable Text" pitchFamily="2" charset="0"/>
            </a:endParaRPr>
          </a:p>
        </p:txBody>
      </p:sp>
      <p:sp>
        <p:nvSpPr>
          <p:cNvPr id="5" name="Master Footer — Row Health"/>
          <p:cNvSpPr txBox="1"/>
          <p:nvPr/>
        </p:nvSpPr>
        <p:spPr>
          <a:xfrm>
            <a:off x="0" y="6536086"/>
            <a:ext cx="1572322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2000" b="1" dirty="0">
                <a:solidFill>
                  <a:srgbClr val="017E78"/>
                </a:solidFill>
                <a:latin typeface="Segoe UI"/>
              </a:rPr>
              <a:t>  </a:t>
            </a:r>
            <a:r>
              <a:rPr sz="2000" b="1" dirty="0">
                <a:solidFill>
                  <a:srgbClr val="017E78"/>
                </a:solidFill>
                <a:latin typeface="Segoe UI"/>
              </a:rPr>
              <a:t>row health</a:t>
            </a:r>
          </a:p>
        </p:txBody>
      </p:sp>
      <p:sp>
        <p:nvSpPr>
          <p:cNvPr id="6" name="Master Footer — Slide Number"/>
          <p:cNvSpPr txBox="1"/>
          <p:nvPr/>
        </p:nvSpPr>
        <p:spPr>
          <a:xfrm>
            <a:off x="11541512" y="6577645"/>
            <a:ext cx="378344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340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017E78"/>
            </a:gs>
            <a:gs pos="70000">
              <a:srgbClr val="002E2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00B0A-6251-8CCC-99BE-448A2857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72FBA2-CCCD-47C6-C7B4-246DA4F3A0A1}"/>
              </a:ext>
            </a:extLst>
          </p:cNvPr>
          <p:cNvSpPr txBox="1"/>
          <p:nvPr/>
        </p:nvSpPr>
        <p:spPr>
          <a:xfrm>
            <a:off x="87086" y="2819401"/>
            <a:ext cx="120069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Overview</a:t>
            </a:r>
            <a:endParaRPr lang="en-KE" sz="6000" dirty="0">
              <a:solidFill>
                <a:schemeClr val="bg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Master Footer — Slide Number"/>
          <p:cNvSpPr txBox="1"/>
          <p:nvPr/>
        </p:nvSpPr>
        <p:spPr>
          <a:xfrm>
            <a:off x="11630721" y="6489229"/>
            <a:ext cx="356839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07E78"/>
                </a:solidFill>
                <a:latin typeface="Segoe U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435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1940-A7F9-01D6-8594-B55FE8DC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1A528-43C3-0DB1-91B7-FCBDA0F50F33}"/>
              </a:ext>
            </a:extLst>
          </p:cNvPr>
          <p:cNvSpPr txBox="1"/>
          <p:nvPr/>
        </p:nvSpPr>
        <p:spPr>
          <a:xfrm>
            <a:off x="3396343" y="1338943"/>
            <a:ext cx="4985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605B"/>
                </a:solidFill>
                <a:latin typeface="Segoe UI Variable Text Light" pitchFamily="2" charset="0"/>
              </a:rPr>
              <a:t>Context</a:t>
            </a:r>
            <a:endParaRPr lang="en-KE" sz="4800" dirty="0">
              <a:solidFill>
                <a:srgbClr val="00605B"/>
              </a:solidFill>
              <a:latin typeface="Segoe UI Variable Text Ligh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9FF06-9DB2-3614-9EBA-A10293F29BBC}"/>
              </a:ext>
            </a:extLst>
          </p:cNvPr>
          <p:cNvSpPr txBox="1"/>
          <p:nvPr/>
        </p:nvSpPr>
        <p:spPr>
          <a:xfrm>
            <a:off x="2514600" y="2242457"/>
            <a:ext cx="662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The goal of this project is </a:t>
            </a:r>
            <a:r>
              <a:rPr lang="en-US" sz="2400" dirty="0">
                <a:solidFill>
                  <a:srgbClr val="00605B"/>
                </a:solidFill>
              </a:rPr>
              <a:t>to </a:t>
            </a:r>
            <a:r>
              <a:rPr lang="en-US" sz="2400" b="1" dirty="0">
                <a:solidFill>
                  <a:srgbClr val="00605B"/>
                </a:solidFill>
              </a:rPr>
              <a:t>investigate the</a:t>
            </a:r>
          </a:p>
          <a:p>
            <a:r>
              <a:rPr lang="en-US" sz="2400" b="1" dirty="0">
                <a:solidFill>
                  <a:srgbClr val="00605B"/>
                </a:solidFill>
              </a:rPr>
              <a:t>performance of marketing campaigns </a:t>
            </a:r>
            <a:r>
              <a:rPr lang="en-US" sz="2400" dirty="0"/>
              <a:t>at row</a:t>
            </a:r>
          </a:p>
          <a:p>
            <a:r>
              <a:rPr lang="en-US" sz="2400" dirty="0"/>
              <a:t>health in order to surface recommendations on Marketing budget allocation for 2026 campaigns.</a:t>
            </a:r>
            <a:endParaRPr lang="en-KE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B3881-A4D7-F00E-193E-8E06EE87E6FE}"/>
              </a:ext>
            </a:extLst>
          </p:cNvPr>
          <p:cNvSpPr txBox="1"/>
          <p:nvPr/>
        </p:nvSpPr>
        <p:spPr>
          <a:xfrm>
            <a:off x="2514600" y="4112568"/>
            <a:ext cx="6629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   The budget is allocated to drive two primary</a:t>
            </a:r>
          </a:p>
          <a:p>
            <a:r>
              <a:rPr lang="en-US" sz="2400" dirty="0"/>
              <a:t>objectives: 1) to </a:t>
            </a:r>
            <a:r>
              <a:rPr lang="en-US" sz="2400" b="1" dirty="0">
                <a:solidFill>
                  <a:srgbClr val="00605B"/>
                </a:solidFill>
              </a:rPr>
              <a:t>raise awareness </a:t>
            </a:r>
            <a:r>
              <a:rPr lang="en-US" sz="2400" dirty="0"/>
              <a:t>of Row Health’s brand across the country and 2) to increase the number of </a:t>
            </a:r>
            <a:r>
              <a:rPr lang="en-US" sz="2400" b="1" dirty="0">
                <a:solidFill>
                  <a:srgbClr val="00605B"/>
                </a:solidFill>
              </a:rPr>
              <a:t>customer signups</a:t>
            </a:r>
            <a:r>
              <a:rPr lang="en-US" sz="2400" dirty="0"/>
              <a:t>.</a:t>
            </a:r>
            <a:endParaRPr lang="en-KE" dirty="0"/>
          </a:p>
        </p:txBody>
      </p:sp>
      <p:sp>
        <p:nvSpPr>
          <p:cNvPr id="7" name="Master Footer — Row Health"/>
          <p:cNvSpPr txBox="1"/>
          <p:nvPr/>
        </p:nvSpPr>
        <p:spPr>
          <a:xfrm>
            <a:off x="0" y="6522122"/>
            <a:ext cx="3094909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2000" b="1" dirty="0">
                <a:solidFill>
                  <a:srgbClr val="017E78"/>
                </a:solidFill>
                <a:latin typeface="Segoe UI"/>
              </a:rPr>
              <a:t>  </a:t>
            </a:r>
            <a:r>
              <a:rPr sz="2000" b="1" dirty="0">
                <a:solidFill>
                  <a:srgbClr val="017E78"/>
                </a:solidFill>
                <a:latin typeface="Segoe UI"/>
              </a:rPr>
              <a:t>row health</a:t>
            </a:r>
          </a:p>
        </p:txBody>
      </p:sp>
      <p:sp>
        <p:nvSpPr>
          <p:cNvPr id="8" name="Master Footer — Slide Number"/>
          <p:cNvSpPr txBox="1"/>
          <p:nvPr/>
        </p:nvSpPr>
        <p:spPr>
          <a:xfrm>
            <a:off x="11050859" y="6562044"/>
            <a:ext cx="970155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3961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D70F-1B73-834F-E22D-7F6D39F8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19BCE9-0F8C-4FA0-5594-0E502977DCE7}"/>
              </a:ext>
            </a:extLst>
          </p:cNvPr>
          <p:cNvCxnSpPr/>
          <p:nvPr/>
        </p:nvCxnSpPr>
        <p:spPr>
          <a:xfrm>
            <a:off x="1925179" y="2569029"/>
            <a:ext cx="79062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2BBB4-615D-E41B-D0BC-DF2D420544DA}"/>
              </a:ext>
            </a:extLst>
          </p:cNvPr>
          <p:cNvCxnSpPr>
            <a:cxnSpLocks/>
          </p:cNvCxnSpPr>
          <p:nvPr/>
        </p:nvCxnSpPr>
        <p:spPr>
          <a:xfrm>
            <a:off x="5878286" y="1883229"/>
            <a:ext cx="0" cy="432162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AADBEC-76F6-27BA-C551-78220DFF36C9}"/>
              </a:ext>
            </a:extLst>
          </p:cNvPr>
          <p:cNvSpPr txBox="1"/>
          <p:nvPr/>
        </p:nvSpPr>
        <p:spPr>
          <a:xfrm>
            <a:off x="381000" y="261257"/>
            <a:ext cx="8784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rgbClr val="00605B"/>
                </a:solidFill>
                <a:latin typeface="Segoe UI Variable Text Light" pitchFamily="2" charset="0"/>
              </a:rPr>
              <a:t>North Star Metrics</a:t>
            </a:r>
            <a:endParaRPr lang="en-KE" sz="4800">
              <a:solidFill>
                <a:srgbClr val="00605B"/>
              </a:solidFill>
              <a:latin typeface="Segoe UI Variable Text Ligh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A3682-DF5E-3610-F94F-DF8C7DC28335}"/>
              </a:ext>
            </a:extLst>
          </p:cNvPr>
          <p:cNvSpPr txBox="1"/>
          <p:nvPr/>
        </p:nvSpPr>
        <p:spPr>
          <a:xfrm>
            <a:off x="381000" y="1246806"/>
            <a:ext cx="11615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Segoe UI Variable Text" pitchFamily="2" charset="0"/>
              </a:rPr>
              <a:t>In order to evaluate campaign performance, we focused on the following key metrics</a:t>
            </a:r>
            <a:r>
              <a:rPr lang="en-US">
                <a:latin typeface="Segoe UI Variable Text" pitchFamily="2" charset="0"/>
              </a:rPr>
              <a:t>:</a:t>
            </a:r>
            <a:endParaRPr lang="en-KE">
              <a:latin typeface="Segoe UI Variable Tex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98199-212E-A52C-085F-5A6E996152B1}"/>
              </a:ext>
            </a:extLst>
          </p:cNvPr>
          <p:cNvSpPr txBox="1"/>
          <p:nvPr/>
        </p:nvSpPr>
        <p:spPr>
          <a:xfrm>
            <a:off x="1925179" y="2155371"/>
            <a:ext cx="3844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605B"/>
                </a:solidFill>
              </a:rPr>
              <a:t>Increase Awareness</a:t>
            </a:r>
            <a:endParaRPr lang="en-KE" sz="2400" b="1">
              <a:solidFill>
                <a:srgbClr val="00605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A280E9-5489-A7C9-D9D9-DB7C856C8D5B}"/>
              </a:ext>
            </a:extLst>
          </p:cNvPr>
          <p:cNvSpPr txBox="1"/>
          <p:nvPr/>
        </p:nvSpPr>
        <p:spPr>
          <a:xfrm>
            <a:off x="5878286" y="2155371"/>
            <a:ext cx="3853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605B"/>
                </a:solidFill>
              </a:rPr>
              <a:t>Increase Signups</a:t>
            </a:r>
            <a:endParaRPr lang="en-KE" sz="2400" b="1">
              <a:solidFill>
                <a:srgbClr val="00605B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2C9EA-40F3-C485-48FF-7B7E912788D4}"/>
              </a:ext>
            </a:extLst>
          </p:cNvPr>
          <p:cNvSpPr txBox="1"/>
          <p:nvPr/>
        </p:nvSpPr>
        <p:spPr>
          <a:xfrm>
            <a:off x="2013857" y="3341914"/>
            <a:ext cx="3058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   Click Through Rate</a:t>
            </a:r>
            <a:endParaRPr lang="en-KE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2C7E4-8803-DD9A-E48D-B2A27D204568}"/>
              </a:ext>
            </a:extLst>
          </p:cNvPr>
          <p:cNvSpPr txBox="1"/>
          <p:nvPr/>
        </p:nvSpPr>
        <p:spPr>
          <a:xfrm>
            <a:off x="2340429" y="3907971"/>
            <a:ext cx="3243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percent of people who see a campaign and click on the associated link</a:t>
            </a:r>
            <a:endParaRPr lang="en-KE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2361A9-B5DB-2821-E441-4CD23C143E5E}"/>
              </a:ext>
            </a:extLst>
          </p:cNvPr>
          <p:cNvCxnSpPr/>
          <p:nvPr/>
        </p:nvCxnSpPr>
        <p:spPr>
          <a:xfrm flipV="1">
            <a:off x="1981200" y="3501989"/>
            <a:ext cx="0" cy="811964"/>
          </a:xfrm>
          <a:prstGeom prst="straightConnector1">
            <a:avLst/>
          </a:prstGeom>
          <a:ln w="57150">
            <a:solidFill>
              <a:srgbClr val="0060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1EFDFE-9BCF-8010-9F5D-04080231B4EE}"/>
              </a:ext>
            </a:extLst>
          </p:cNvPr>
          <p:cNvSpPr txBox="1"/>
          <p:nvPr/>
        </p:nvSpPr>
        <p:spPr>
          <a:xfrm>
            <a:off x="6155867" y="2841171"/>
            <a:ext cx="3058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     Signup Rate</a:t>
            </a:r>
            <a:endParaRPr lang="en-KE"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7289C9-C319-73EB-C82D-2D3A0F739902}"/>
              </a:ext>
            </a:extLst>
          </p:cNvPr>
          <p:cNvSpPr txBox="1"/>
          <p:nvPr/>
        </p:nvSpPr>
        <p:spPr>
          <a:xfrm>
            <a:off x="6117769" y="4388196"/>
            <a:ext cx="3058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      Cost per Signup</a:t>
            </a:r>
            <a:endParaRPr lang="en-KE" sz="2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BCE242-BEE5-3C07-A54E-4AE5DFF7D1BD}"/>
              </a:ext>
            </a:extLst>
          </p:cNvPr>
          <p:cNvSpPr txBox="1"/>
          <p:nvPr/>
        </p:nvSpPr>
        <p:spPr>
          <a:xfrm>
            <a:off x="6455229" y="3363685"/>
            <a:ext cx="3243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percent of people who see a campaign and subsequently sign up for a Row Health Plan.</a:t>
            </a:r>
            <a:endParaRPr lang="en-K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2E4D15-17DE-C3C7-4B1E-F5E9B7D3C5AA}"/>
              </a:ext>
            </a:extLst>
          </p:cNvPr>
          <p:cNvSpPr txBox="1"/>
          <p:nvPr/>
        </p:nvSpPr>
        <p:spPr>
          <a:xfrm>
            <a:off x="6487886" y="4951042"/>
            <a:ext cx="3243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average dollars spent in order to acquire a signup from each campaign.</a:t>
            </a:r>
            <a:endParaRPr lang="en-KE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BFA47D-90B4-7A51-536C-66D4E8AE8283}"/>
              </a:ext>
            </a:extLst>
          </p:cNvPr>
          <p:cNvCxnSpPr/>
          <p:nvPr/>
        </p:nvCxnSpPr>
        <p:spPr>
          <a:xfrm flipV="1">
            <a:off x="6324600" y="2991615"/>
            <a:ext cx="0" cy="811964"/>
          </a:xfrm>
          <a:prstGeom prst="straightConnector1">
            <a:avLst/>
          </a:prstGeom>
          <a:ln w="57150">
            <a:solidFill>
              <a:srgbClr val="0060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946935-14DA-57DA-9EA1-CACB72BC29F0}"/>
              </a:ext>
            </a:extLst>
          </p:cNvPr>
          <p:cNvCxnSpPr>
            <a:cxnSpLocks/>
          </p:cNvCxnSpPr>
          <p:nvPr/>
        </p:nvCxnSpPr>
        <p:spPr>
          <a:xfrm>
            <a:off x="6324600" y="4527754"/>
            <a:ext cx="0" cy="884953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Updated text overlay 58">
            <a:extLst>
              <a:ext uri="{FF2B5EF4-FFF2-40B4-BE49-F238E27FC236}">
                <a16:creationId xmlns:a16="http://schemas.microsoft.com/office/drawing/2014/main" id="{1B1A3682-DF5E-3610-F94F-DF8C7DC28335}"/>
              </a:ext>
            </a:extLst>
          </p:cNvPr>
          <p:cNvSpPr txBox="1"/>
          <p:nvPr/>
        </p:nvSpPr>
        <p:spPr>
          <a:xfrm>
            <a:off x="381000" y="1246806"/>
            <a:ext cx="116150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Segoe UI Variable Text" pitchFamily="2" charset="0"/>
              </a:rPr>
              <a:t>Compared to industry benchmarks, Row Health has low signup rate and low CPC, but higher than average CTR.</a:t>
            </a:r>
            <a:endParaRPr lang="en-KE">
              <a:latin typeface="Segoe UI Variable Text" pitchFamily="2" charset="0"/>
            </a:endParaRPr>
          </a:p>
        </p:txBody>
      </p:sp>
      <p:sp>
        <p:nvSpPr>
          <p:cNvPr id="59" name="Updated text overlay 59">
            <a:extLst>
              <a:ext uri="{FF2B5EF4-FFF2-40B4-BE49-F238E27FC236}">
                <a16:creationId xmlns:a16="http://schemas.microsoft.com/office/drawing/2014/main" id="{E942C7E4-8803-DD9A-E48D-B2A27D204568}"/>
              </a:ext>
            </a:extLst>
          </p:cNvPr>
          <p:cNvSpPr txBox="1"/>
          <p:nvPr/>
        </p:nvSpPr>
        <p:spPr>
          <a:xfrm>
            <a:off x="2340429" y="3907971"/>
            <a:ext cx="3243941" cy="9233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In Q1 of 2026, the average click through rate was </a:t>
            </a:r>
            <a:r>
              <a:rPr lang="en-US" b="1" dirty="0"/>
              <a:t>12.59% </a:t>
            </a:r>
            <a:r>
              <a:rPr lang="en-US" dirty="0"/>
              <a:t>across 8.4M impressions.</a:t>
            </a:r>
            <a:endParaRPr lang="en-KE" dirty="0"/>
          </a:p>
        </p:txBody>
      </p:sp>
      <p:sp>
        <p:nvSpPr>
          <p:cNvPr id="60" name="Updated text overlay 60">
            <a:extLst>
              <a:ext uri="{FF2B5EF4-FFF2-40B4-BE49-F238E27FC236}">
                <a16:creationId xmlns:a16="http://schemas.microsoft.com/office/drawing/2014/main" id="{71BCE242-BEE5-3C07-A54E-4AE5DFF7D1BD}"/>
              </a:ext>
            </a:extLst>
          </p:cNvPr>
          <p:cNvSpPr txBox="1"/>
          <p:nvPr/>
        </p:nvSpPr>
        <p:spPr>
          <a:xfrm>
            <a:off x="6455229" y="3363685"/>
            <a:ext cx="3243941" cy="9233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In Q1 of 2026, the average signup rate was </a:t>
            </a:r>
            <a:r>
              <a:rPr lang="en-US" b="1" dirty="0"/>
              <a:t>0.33% </a:t>
            </a:r>
            <a:r>
              <a:rPr lang="en-US" dirty="0"/>
              <a:t>across 16.29k total signups.</a:t>
            </a:r>
            <a:endParaRPr lang="en-KE" dirty="0"/>
          </a:p>
        </p:txBody>
      </p:sp>
      <p:sp>
        <p:nvSpPr>
          <p:cNvPr id="61" name="Updated text overlay 61">
            <a:extLst>
              <a:ext uri="{FF2B5EF4-FFF2-40B4-BE49-F238E27FC236}">
                <a16:creationId xmlns:a16="http://schemas.microsoft.com/office/drawing/2014/main" id="{E12E4D15-17DE-C3C7-4B1E-F5E9B7D3C5AA}"/>
              </a:ext>
            </a:extLst>
          </p:cNvPr>
          <p:cNvSpPr txBox="1"/>
          <p:nvPr/>
        </p:nvSpPr>
        <p:spPr>
          <a:xfrm>
            <a:off x="6487886" y="4951042"/>
            <a:ext cx="3243941" cy="12003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In Q1 of 2026, the average</a:t>
            </a:r>
          </a:p>
          <a:p>
            <a:r>
              <a:rPr lang="en-US" dirty="0"/>
              <a:t> cost per signup was </a:t>
            </a:r>
            <a:r>
              <a:rPr lang="en-US" b="1" dirty="0"/>
              <a:t>$2.2</a:t>
            </a:r>
            <a:r>
              <a:rPr lang="en-US" dirty="0"/>
              <a:t>, ranging from $1.3 to $124.05 per campaign.</a:t>
            </a:r>
            <a:endParaRPr lang="en-KE" dirty="0"/>
          </a:p>
        </p:txBody>
      </p:sp>
      <p:sp>
        <p:nvSpPr>
          <p:cNvPr id="68" name="Master Footer — Row Health"/>
          <p:cNvSpPr txBox="1"/>
          <p:nvPr/>
        </p:nvSpPr>
        <p:spPr>
          <a:xfrm>
            <a:off x="139836" y="6523590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2000" b="1" dirty="0">
                <a:solidFill>
                  <a:srgbClr val="017E78"/>
                </a:solidFill>
                <a:latin typeface="Segoe UI"/>
              </a:rPr>
              <a:t>row health</a:t>
            </a:r>
          </a:p>
        </p:txBody>
      </p:sp>
      <p:sp>
        <p:nvSpPr>
          <p:cNvPr id="69" name="Master Footer — Slide Number"/>
          <p:cNvSpPr txBox="1"/>
          <p:nvPr/>
        </p:nvSpPr>
        <p:spPr>
          <a:xfrm>
            <a:off x="8613647" y="6538399"/>
            <a:ext cx="3382409" cy="2463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866673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 fill="hold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017E78"/>
            </a:gs>
            <a:gs pos="70000">
              <a:srgbClr val="002E2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1BC2B-D7C7-B072-59B7-27AA0AA8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D09EA-6D78-B312-736B-4C277DE4FD69}"/>
              </a:ext>
            </a:extLst>
          </p:cNvPr>
          <p:cNvSpPr txBox="1"/>
          <p:nvPr/>
        </p:nvSpPr>
        <p:spPr>
          <a:xfrm>
            <a:off x="87086" y="2819401"/>
            <a:ext cx="120069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Insights Deep-Dive</a:t>
            </a:r>
            <a:endParaRPr lang="en-KE" sz="6000" dirty="0">
              <a:solidFill>
                <a:schemeClr val="bg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Master Footer — Slide Number"/>
          <p:cNvSpPr txBox="1"/>
          <p:nvPr/>
        </p:nvSpPr>
        <p:spPr>
          <a:xfrm>
            <a:off x="10571356" y="6544929"/>
            <a:ext cx="1360448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07E78"/>
                </a:solidFill>
                <a:latin typeface="Segoe U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3614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7D54-0AD2-D6A6-1FB4-9E3929FB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934C3-C20C-BE42-084B-15030E45CFA1}"/>
              </a:ext>
            </a:extLst>
          </p:cNvPr>
          <p:cNvSpPr txBox="1"/>
          <p:nvPr/>
        </p:nvSpPr>
        <p:spPr>
          <a:xfrm>
            <a:off x="696684" y="435429"/>
            <a:ext cx="1036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605B"/>
                </a:solidFill>
                <a:latin typeface="Segoe UI Variable Text" pitchFamily="2" charset="0"/>
              </a:rPr>
              <a:t>Health for All campaigns outperformed on CTR </a:t>
            </a:r>
          </a:p>
          <a:p>
            <a:r>
              <a:rPr lang="en-US" sz="3600" dirty="0">
                <a:solidFill>
                  <a:srgbClr val="00605B"/>
                </a:solidFill>
                <a:latin typeface="Segoe UI Variable Text" pitchFamily="2" charset="0"/>
              </a:rPr>
              <a:t>compared to campaigns with more impressions</a:t>
            </a:r>
            <a:r>
              <a:rPr lang="en-US" dirty="0"/>
              <a:t>.</a:t>
            </a:r>
            <a:endParaRPr lang="en-K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CCE75-FEA4-C1E4-3FA1-E6EEFE0C95DB}"/>
              </a:ext>
            </a:extLst>
          </p:cNvPr>
          <p:cNvSpPr txBox="1"/>
          <p:nvPr/>
        </p:nvSpPr>
        <p:spPr>
          <a:xfrm>
            <a:off x="849086" y="1981200"/>
            <a:ext cx="49421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Across categories, Health for All and Benefit Updates performed nearly 2-3x better than the average CTR at 34.56% and 22.02%, respectively.</a:t>
            </a:r>
            <a:endParaRPr lang="en-KE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859AB-05EF-9B43-18D1-E6D4A0816BB0}"/>
              </a:ext>
            </a:extLst>
          </p:cNvPr>
          <p:cNvSpPr txBox="1"/>
          <p:nvPr/>
        </p:nvSpPr>
        <p:spPr>
          <a:xfrm>
            <a:off x="849086" y="3523016"/>
            <a:ext cx="49421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Within the two categories with high CTR,</a:t>
            </a:r>
          </a:p>
          <a:p>
            <a:r>
              <a:rPr lang="en-US" sz="2000" dirty="0"/>
              <a:t>Customer Testimonial-based campaign and Policy Information had relatively low CTR (32.46% and 16.81% respectively).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BE60E-E5AB-BD89-CE6B-C5939F2C14ED}"/>
              </a:ext>
            </a:extLst>
          </p:cNvPr>
          <p:cNvSpPr txBox="1"/>
          <p:nvPr/>
        </p:nvSpPr>
        <p:spPr>
          <a:xfrm>
            <a:off x="783773" y="4952999"/>
            <a:ext cx="50291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Family coverage Plan data showed high impressions but few clicks (0.03%) – this needs to be investigated and could be due to missing data or issues with campaign tagging.</a:t>
            </a:r>
          </a:p>
        </p:txBody>
      </p:sp>
      <p:pic>
        <p:nvPicPr>
          <p:cNvPr id="13" name="Picture 10" descr="image-def6d1372791ef28818cdb85290f9146.jpg"/>
          <p:cNvPicPr>
            <a:picLocks noChangeAspect="1"/>
          </p:cNvPicPr>
          <p:nvPr/>
        </p:nvPicPr>
        <p:blipFill>
          <a:blip r:embed="rId3"/>
          <a:srcRect l="-137" t="6164" r="32638" b="58874"/>
          <a:stretch>
            <a:fillRect/>
          </a:stretch>
        </p:blipFill>
        <p:spPr>
          <a:xfrm>
            <a:off x="5977080" y="4767943"/>
            <a:ext cx="5675943" cy="1654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3707AC-DD6A-6483-4ABB-07BEB14EA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36" y="1700279"/>
            <a:ext cx="4504715" cy="3003143"/>
          </a:xfrm>
          <a:prstGeom prst="rect">
            <a:avLst/>
          </a:prstGeom>
        </p:spPr>
      </p:pic>
      <p:sp>
        <p:nvSpPr>
          <p:cNvPr id="15" name="Master Footer — Slide Number"/>
          <p:cNvSpPr txBox="1"/>
          <p:nvPr/>
        </p:nvSpPr>
        <p:spPr>
          <a:xfrm>
            <a:off x="8613647" y="6496435"/>
            <a:ext cx="3318157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6685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7D37-6D32-E4FD-089E-3E3544C2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7FACAC-BDA7-FAEA-2994-7F7BDCF1CA14}"/>
              </a:ext>
            </a:extLst>
          </p:cNvPr>
          <p:cNvSpPr txBox="1"/>
          <p:nvPr/>
        </p:nvSpPr>
        <p:spPr>
          <a:xfrm>
            <a:off x="696684" y="435429"/>
            <a:ext cx="1036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605B"/>
                </a:solidFill>
                <a:latin typeface="Segoe UI Variable Text" pitchFamily="2" charset="0"/>
              </a:rPr>
              <a:t>Signup rate was also by far the highest </a:t>
            </a:r>
            <a:r>
              <a:rPr lang="en-US" sz="3600" dirty="0">
                <a:solidFill>
                  <a:srgbClr val="00605B"/>
                </a:solidFill>
                <a:latin typeface="Segoe UI Variable Text" pitchFamily="2" charset="0"/>
              </a:rPr>
              <a:t>among </a:t>
            </a:r>
          </a:p>
          <a:p>
            <a:r>
              <a:rPr lang="en-US" sz="3600" dirty="0">
                <a:solidFill>
                  <a:srgbClr val="00605B"/>
                </a:solidFill>
                <a:latin typeface="Segoe UI Variable Text" pitchFamily="2" charset="0"/>
              </a:rPr>
              <a:t>Health For All campaigns.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66396-EFC1-58D3-9993-A5FEE8947F8A}"/>
              </a:ext>
            </a:extLst>
          </p:cNvPr>
          <p:cNvSpPr txBox="1"/>
          <p:nvPr/>
        </p:nvSpPr>
        <p:spPr>
          <a:xfrm>
            <a:off x="772886" y="1774960"/>
            <a:ext cx="49421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Across campaign categories, Health for All campaigns had the best-performing signup rate (3.0%) and the second-highest number of signups (3.5k).</a:t>
            </a:r>
            <a:endParaRPr lang="en-KE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AE424-F972-DE6D-BDD5-3F954A1B7D13}"/>
              </a:ext>
            </a:extLst>
          </p:cNvPr>
          <p:cNvSpPr txBox="1"/>
          <p:nvPr/>
        </p:nvSpPr>
        <p:spPr>
          <a:xfrm>
            <a:off x="740229" y="3237601"/>
            <a:ext cx="49421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high signup rate is due to the Policy Information campaign type, which had by far the highest signup rate across all campaign types (4.18%).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26AD3-5315-2EEC-1A75-6C7BCA2F84F6}"/>
              </a:ext>
            </a:extLst>
          </p:cNvPr>
          <p:cNvSpPr txBox="1"/>
          <p:nvPr/>
        </p:nvSpPr>
        <p:spPr>
          <a:xfrm>
            <a:off x="696687" y="4624000"/>
            <a:ext cx="502919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Interestingly, the most expensive campaign,</a:t>
            </a:r>
          </a:p>
          <a:p>
            <a:r>
              <a:rPr lang="en-US" sz="2000" dirty="0"/>
              <a:t>which had the highest number of signups.</a:t>
            </a:r>
          </a:p>
          <a:p>
            <a:r>
              <a:rPr lang="en-US" sz="2000" dirty="0"/>
              <a:t>#HealthLiving – had a comparably low</a:t>
            </a:r>
          </a:p>
          <a:p>
            <a:r>
              <a:rPr lang="en-US" sz="2000" dirty="0"/>
              <a:t>Signup rate at 0.28%</a:t>
            </a:r>
          </a:p>
          <a:p>
            <a:r>
              <a:rPr lang="en-US" sz="1400" dirty="0"/>
              <a:t>*highest spend was $4.6k, across other spend of $1.12k-$46k.</a:t>
            </a:r>
          </a:p>
        </p:txBody>
      </p:sp>
      <p:pic>
        <p:nvPicPr>
          <p:cNvPr id="12" name="Picture 5" descr="image-ecf8d979f2e8083e3cab52c3fc7183a5.jpg"/>
          <p:cNvPicPr>
            <a:picLocks noChangeAspect="1"/>
          </p:cNvPicPr>
          <p:nvPr/>
        </p:nvPicPr>
        <p:blipFill>
          <a:blip r:embed="rId2"/>
          <a:srcRect l="-317" t="2344" r="34579" b="32715"/>
          <a:stretch>
            <a:fillRect/>
          </a:stretch>
        </p:blipFill>
        <p:spPr>
          <a:xfrm>
            <a:off x="5682343" y="1491343"/>
            <a:ext cx="4942114" cy="3254827"/>
          </a:xfrm>
          <a:prstGeom prst="rect">
            <a:avLst/>
          </a:prstGeom>
        </p:spPr>
      </p:pic>
      <p:pic>
        <p:nvPicPr>
          <p:cNvPr id="13" name="Picture 10" descr="image-939137c5735888c852c33cd62c49f505.jpg"/>
          <p:cNvPicPr>
            <a:picLocks noChangeAspect="1"/>
          </p:cNvPicPr>
          <p:nvPr/>
        </p:nvPicPr>
        <p:blipFill>
          <a:blip r:embed="rId3"/>
          <a:srcRect t="-860" r="31938" b="59820"/>
          <a:stretch>
            <a:fillRect/>
          </a:stretch>
        </p:blipFill>
        <p:spPr>
          <a:xfrm>
            <a:off x="5682343" y="4885372"/>
            <a:ext cx="5812970" cy="1972628"/>
          </a:xfrm>
          <a:prstGeom prst="rect">
            <a:avLst/>
          </a:prstGeom>
        </p:spPr>
      </p:pic>
      <p:sp>
        <p:nvSpPr>
          <p:cNvPr id="15" name="Master Footer — Slide Number"/>
          <p:cNvSpPr txBox="1"/>
          <p:nvPr/>
        </p:nvSpPr>
        <p:spPr>
          <a:xfrm>
            <a:off x="8613648" y="6480599"/>
            <a:ext cx="3217796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5426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DD7A-BA91-5F6D-49F1-E54D42A9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490123-ACF6-CDB1-C045-18D03795720E}"/>
              </a:ext>
            </a:extLst>
          </p:cNvPr>
          <p:cNvSpPr txBox="1"/>
          <p:nvPr/>
        </p:nvSpPr>
        <p:spPr>
          <a:xfrm>
            <a:off x="511629" y="435429"/>
            <a:ext cx="1159328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605B"/>
                </a:solidFill>
                <a:latin typeface="Segoe UI Variable Text" pitchFamily="2" charset="0"/>
              </a:rPr>
              <a:t>Cost per signup was high for Golden Years Security,</a:t>
            </a:r>
          </a:p>
          <a:p>
            <a:r>
              <a:rPr lang="en-US" sz="3200" dirty="0">
                <a:solidFill>
                  <a:srgbClr val="00605B"/>
                </a:solidFill>
                <a:latin typeface="Segoe UI Variable Text" pitchFamily="2" charset="0"/>
              </a:rPr>
              <a:t>Which also performed poorly in terms of cost and volume.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A3A63-66C1-1EEF-465E-3419456D5001}"/>
              </a:ext>
            </a:extLst>
          </p:cNvPr>
          <p:cNvSpPr txBox="1"/>
          <p:nvPr/>
        </p:nvSpPr>
        <p:spPr>
          <a:xfrm>
            <a:off x="772885" y="1774960"/>
            <a:ext cx="51924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Across campaign categories, Golden Years security had by far the highest cost per</a:t>
            </a:r>
          </a:p>
          <a:p>
            <a:r>
              <a:rPr lang="en-US" sz="2000" dirty="0"/>
              <a:t>Signups ($124.1), as well as the lowest number of signups (23), compared to an average of $2.2.</a:t>
            </a:r>
            <a:endParaRPr lang="en-KE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21FB3-5AB9-DC17-3405-C5279C9CE391}"/>
              </a:ext>
            </a:extLst>
          </p:cNvPr>
          <p:cNvSpPr txBox="1"/>
          <p:nvPr/>
        </p:nvSpPr>
        <p:spPr>
          <a:xfrm>
            <a:off x="740229" y="3606934"/>
            <a:ext cx="4942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Within the two campaign categories with</a:t>
            </a:r>
          </a:p>
          <a:p>
            <a:r>
              <a:rPr lang="en-US" sz="2000" dirty="0"/>
              <a:t>highest cost per signup, Product Promotion </a:t>
            </a:r>
          </a:p>
          <a:p>
            <a:r>
              <a:rPr lang="en-US" sz="2000" dirty="0"/>
              <a:t>drove the high costs per signup.</a:t>
            </a:r>
          </a:p>
        </p:txBody>
      </p:sp>
      <p:pic>
        <p:nvPicPr>
          <p:cNvPr id="11" name="Picture 5" descr="image-8d35181e84a0518127c154a6c3c123f0.jpg"/>
          <p:cNvPicPr>
            <a:picLocks noChangeAspect="1"/>
          </p:cNvPicPr>
          <p:nvPr/>
        </p:nvPicPr>
        <p:blipFill>
          <a:blip r:embed="rId3"/>
          <a:srcRect t="869" r="42383" b="32607"/>
          <a:stretch>
            <a:fillRect/>
          </a:stretch>
        </p:blipFill>
        <p:spPr>
          <a:xfrm>
            <a:off x="6411860" y="1444333"/>
            <a:ext cx="4190648" cy="3225638"/>
          </a:xfrm>
          <a:prstGeom prst="rect">
            <a:avLst/>
          </a:prstGeom>
        </p:spPr>
      </p:pic>
      <p:pic>
        <p:nvPicPr>
          <p:cNvPr id="14" name="Picture 12" descr="image-2f76b3c01d021b1c1a89fa08ada23ab6.jpg"/>
          <p:cNvPicPr>
            <a:picLocks noChangeAspect="1"/>
          </p:cNvPicPr>
          <p:nvPr/>
        </p:nvPicPr>
        <p:blipFill>
          <a:blip r:embed="rId4"/>
          <a:srcRect t="1025" r="32715" b="59048"/>
          <a:stretch>
            <a:fillRect/>
          </a:stretch>
        </p:blipFill>
        <p:spPr>
          <a:xfrm>
            <a:off x="6308271" y="4749721"/>
            <a:ext cx="5244392" cy="1751439"/>
          </a:xfrm>
          <a:prstGeom prst="rect">
            <a:avLst/>
          </a:prstGeom>
        </p:spPr>
      </p:pic>
      <p:sp>
        <p:nvSpPr>
          <p:cNvPr id="16" name="Master Footer — Slide Number"/>
          <p:cNvSpPr txBox="1"/>
          <p:nvPr/>
        </p:nvSpPr>
        <p:spPr>
          <a:xfrm>
            <a:off x="8613648" y="6540858"/>
            <a:ext cx="3307006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65845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017E78"/>
            </a:gs>
            <a:gs pos="70000">
              <a:srgbClr val="002E2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FA4A1-CA1C-75BF-F838-50CDBF94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8C1B7-0034-549F-D1BE-AD36ECCBAFA3}"/>
              </a:ext>
            </a:extLst>
          </p:cNvPr>
          <p:cNvSpPr txBox="1"/>
          <p:nvPr/>
        </p:nvSpPr>
        <p:spPr>
          <a:xfrm>
            <a:off x="87086" y="2819401"/>
            <a:ext cx="12006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Recommendations and</a:t>
            </a:r>
          </a:p>
          <a:p>
            <a:pPr algn="ctr"/>
            <a:r>
              <a:rPr lang="en-US" sz="6000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Next steps</a:t>
            </a:r>
            <a:endParaRPr lang="en-KE" sz="6000" dirty="0">
              <a:solidFill>
                <a:schemeClr val="bg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Master Footer — Slide Number"/>
          <p:cNvSpPr txBox="1"/>
          <p:nvPr/>
        </p:nvSpPr>
        <p:spPr>
          <a:xfrm>
            <a:off x="8613648" y="6524579"/>
            <a:ext cx="3184342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07E78"/>
                </a:solidFill>
                <a:latin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069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C16-5EA1-7BD2-1FB9-551E4CC3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2499BB-BED3-15F8-7FEC-15591EF10041}"/>
              </a:ext>
            </a:extLst>
          </p:cNvPr>
          <p:cNvSpPr txBox="1"/>
          <p:nvPr/>
        </p:nvSpPr>
        <p:spPr>
          <a:xfrm>
            <a:off x="783771" y="346501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E78"/>
                </a:solidFill>
              </a:rPr>
              <a:t>Key Recommendations</a:t>
            </a:r>
            <a:endParaRPr lang="en-KE" sz="3600" dirty="0">
              <a:solidFill>
                <a:srgbClr val="007E7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906EF-67CA-5A14-BFE7-4401B6AD5BF5}"/>
              </a:ext>
            </a:extLst>
          </p:cNvPr>
          <p:cNvSpPr txBox="1"/>
          <p:nvPr/>
        </p:nvSpPr>
        <p:spPr>
          <a:xfrm>
            <a:off x="859971" y="1198211"/>
            <a:ext cx="10472058" cy="677108"/>
          </a:xfrm>
          <a:prstGeom prst="rect">
            <a:avLst/>
          </a:prstGeom>
          <a:solidFill>
            <a:srgbClr val="007E78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Recommendations focus on two strategies: </a:t>
            </a:r>
            <a:r>
              <a:rPr lang="en-US" dirty="0">
                <a:solidFill>
                  <a:schemeClr val="bg1"/>
                </a:solidFill>
              </a:rPr>
              <a:t>removing ineffective campaign categories and reallocating budget towards categories with better performance across north star metrics.</a:t>
            </a:r>
            <a:endParaRPr lang="en-KE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0B4A-4223-4F69-E433-A24FA880713E}"/>
              </a:ext>
            </a:extLst>
          </p:cNvPr>
          <p:cNvSpPr txBox="1"/>
          <p:nvPr/>
        </p:nvSpPr>
        <p:spPr>
          <a:xfrm>
            <a:off x="859971" y="2048739"/>
            <a:ext cx="1054825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Increase Signups and Awareness</a:t>
            </a:r>
          </a:p>
          <a:p>
            <a:endParaRPr lang="en-US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Health for All: </a:t>
            </a:r>
            <a:r>
              <a:rPr lang="en-US" sz="1600" dirty="0"/>
              <a:t>Reallocate budget from Golden years Security, which had high cost per acquisition, to Health for All campaigns. The second category outperforms across all key metrics, yet we have invested a  relatively low amount ($20K) on them.    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Health awareness: </a:t>
            </a:r>
            <a:r>
              <a:rPr lang="en-US" sz="1600" dirty="0"/>
              <a:t>Within Health for All campaigns, focus on Policy Information-type campaigns, and less on Offer Announcement-type campaigns, which had low signup rate and CTR.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Golden Years Campaigns</a:t>
            </a:r>
            <a:r>
              <a:rPr lang="en-US" sz="1600" dirty="0"/>
              <a:t>: Investigate the cause of high cost per signup for these campaign categories, which had high CACs compared to an average signup cost of $2.2. Consider removing these campaigns altogether after exploring the root cause. </a:t>
            </a:r>
            <a:endParaRPr lang="en-US" sz="1600" b="1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#HealthLiving: </a:t>
            </a:r>
            <a:r>
              <a:rPr lang="en-US" sz="1600" dirty="0"/>
              <a:t>Decrease investment in this campaign category, which has the highest spend ($4.6k) but</a:t>
            </a:r>
          </a:p>
          <a:p>
            <a:pPr>
              <a:buClr>
                <a:srgbClr val="017E78"/>
              </a:buClr>
            </a:pPr>
            <a:r>
              <a:rPr lang="en-US" sz="1600" dirty="0"/>
              <a:t>       Mediocre signup rates compared to Health for All campaigns.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KE" dirty="0"/>
          </a:p>
        </p:txBody>
      </p:sp>
      <p:sp>
        <p:nvSpPr>
          <p:cNvPr id="8" name="Master Footer — Row Health"/>
          <p:cNvSpPr txBox="1"/>
          <p:nvPr/>
        </p:nvSpPr>
        <p:spPr>
          <a:xfrm>
            <a:off x="167268" y="6539520"/>
            <a:ext cx="300570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2000" b="1" dirty="0">
                <a:solidFill>
                  <a:srgbClr val="017E78"/>
                </a:solidFill>
                <a:latin typeface="Segoe UI"/>
              </a:rPr>
              <a:t>row health</a:t>
            </a:r>
          </a:p>
        </p:txBody>
      </p:sp>
      <p:sp>
        <p:nvSpPr>
          <p:cNvPr id="9" name="Master Footer — Slide Number"/>
          <p:cNvSpPr txBox="1"/>
          <p:nvPr/>
        </p:nvSpPr>
        <p:spPr>
          <a:xfrm>
            <a:off x="8613648" y="6562268"/>
            <a:ext cx="3217796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6591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435C-1B9E-F745-2BE3-3B340D91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752D6-9257-108F-F62C-B72CB93FFBD6}"/>
              </a:ext>
            </a:extLst>
          </p:cNvPr>
          <p:cNvSpPr txBox="1"/>
          <p:nvPr/>
        </p:nvSpPr>
        <p:spPr>
          <a:xfrm>
            <a:off x="783771" y="346501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E78"/>
                </a:solidFill>
              </a:rPr>
              <a:t>Caveats and Next Steps</a:t>
            </a:r>
            <a:endParaRPr lang="en-KE" sz="3600" dirty="0">
              <a:solidFill>
                <a:srgbClr val="007E7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AB9CC-BB03-118E-19DF-8C2359B8F4F5}"/>
              </a:ext>
            </a:extLst>
          </p:cNvPr>
          <p:cNvSpPr txBox="1"/>
          <p:nvPr/>
        </p:nvSpPr>
        <p:spPr>
          <a:xfrm>
            <a:off x="859971" y="1198211"/>
            <a:ext cx="10472058" cy="400110"/>
          </a:xfrm>
          <a:prstGeom prst="rect">
            <a:avLst/>
          </a:prstGeom>
          <a:solidFill>
            <a:srgbClr val="007E78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For improved analysis and future steps, consider the following:</a:t>
            </a:r>
            <a:endParaRPr lang="en-KE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BC6E2-24F2-CA09-419E-0591961D6439}"/>
              </a:ext>
            </a:extLst>
          </p:cNvPr>
          <p:cNvSpPr txBox="1"/>
          <p:nvPr/>
        </p:nvSpPr>
        <p:spPr>
          <a:xfrm>
            <a:off x="2699657" y="2019143"/>
            <a:ext cx="863237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campaign start and end dates to understand campaign performance over time</a:t>
            </a:r>
            <a:r>
              <a:rPr lang="en-US" sz="1600" dirty="0"/>
              <a:t>   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Investigate few clicks for Family Coverage Plan category.</a:t>
            </a:r>
          </a:p>
          <a:p>
            <a:pPr>
              <a:buClr>
                <a:schemeClr val="tx1"/>
              </a:buClr>
            </a:pPr>
            <a:endParaRPr lang="en-US" sz="1600" dirty="0"/>
          </a:p>
          <a:p>
            <a:pPr>
              <a:buClr>
                <a:schemeClr val="tx1"/>
              </a:buClr>
            </a:pPr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Include customer-specific dimensions (plan, state) to further tailor campaign recommendations based on client demographics.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Explore relationship between campaign and customer claims to identify and target ideal patient types.</a:t>
            </a:r>
          </a:p>
          <a:p>
            <a:pPr>
              <a:buClr>
                <a:schemeClr val="tx1"/>
              </a:buClr>
            </a:pPr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Regroup with marketing team to explore the potential impact of recommendations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Explore Tableau dashboard for more insights and recommendations tailored to campaign categories and types</a:t>
            </a:r>
          </a:p>
          <a:p>
            <a:endParaRPr lang="en-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61008-C8E4-D5A6-14FD-2E647E4A2979}"/>
              </a:ext>
            </a:extLst>
          </p:cNvPr>
          <p:cNvSpPr txBox="1"/>
          <p:nvPr/>
        </p:nvSpPr>
        <p:spPr>
          <a:xfrm>
            <a:off x="783771" y="2427514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007E78"/>
                </a:solidFill>
              </a:rPr>
              <a:t>Improved </a:t>
            </a:r>
          </a:p>
          <a:p>
            <a:r>
              <a:rPr lang="en-US" sz="2000" i="1" dirty="0">
                <a:solidFill>
                  <a:srgbClr val="007E78"/>
                </a:solidFill>
              </a:rPr>
              <a:t>Date quality &amp;</a:t>
            </a:r>
          </a:p>
          <a:p>
            <a:r>
              <a:rPr lang="en-US" sz="2000" i="1" dirty="0">
                <a:solidFill>
                  <a:srgbClr val="007E78"/>
                </a:solidFill>
              </a:rPr>
              <a:t>availability</a:t>
            </a:r>
            <a:endParaRPr lang="en-KE" sz="2000" i="1" dirty="0">
              <a:solidFill>
                <a:srgbClr val="007E7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1AB57-8C54-6F17-2F78-7BFC0CBAD6BF}"/>
              </a:ext>
            </a:extLst>
          </p:cNvPr>
          <p:cNvSpPr txBox="1"/>
          <p:nvPr/>
        </p:nvSpPr>
        <p:spPr>
          <a:xfrm>
            <a:off x="859969" y="3628463"/>
            <a:ext cx="167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007E78"/>
                </a:solidFill>
              </a:rPr>
              <a:t>Include other </a:t>
            </a:r>
          </a:p>
          <a:p>
            <a:r>
              <a:rPr lang="en-US" sz="2000" i="1" dirty="0">
                <a:solidFill>
                  <a:srgbClr val="007E78"/>
                </a:solidFill>
              </a:rPr>
              <a:t>dimensions</a:t>
            </a:r>
            <a:endParaRPr lang="en-KE" sz="2000" i="1" dirty="0">
              <a:solidFill>
                <a:srgbClr val="007E7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12189-2F00-74EA-1D0A-284543E9D113}"/>
              </a:ext>
            </a:extLst>
          </p:cNvPr>
          <p:cNvSpPr txBox="1"/>
          <p:nvPr/>
        </p:nvSpPr>
        <p:spPr>
          <a:xfrm>
            <a:off x="783771" y="4829412"/>
            <a:ext cx="167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007E78"/>
                </a:solidFill>
              </a:rPr>
              <a:t>Revisit </a:t>
            </a:r>
          </a:p>
          <a:p>
            <a:r>
              <a:rPr lang="en-US" sz="2000" i="1" dirty="0">
                <a:solidFill>
                  <a:srgbClr val="007E78"/>
                </a:solidFill>
              </a:rPr>
              <a:t>Marketing</a:t>
            </a:r>
          </a:p>
          <a:p>
            <a:r>
              <a:rPr lang="en-US" sz="2000" i="1" dirty="0">
                <a:solidFill>
                  <a:srgbClr val="007E78"/>
                </a:solidFill>
              </a:rPr>
              <a:t>Budget with</a:t>
            </a:r>
          </a:p>
          <a:p>
            <a:r>
              <a:rPr lang="en-US" sz="2000" i="1" dirty="0">
                <a:solidFill>
                  <a:srgbClr val="007E78"/>
                </a:solidFill>
              </a:rPr>
              <a:t>team</a:t>
            </a:r>
            <a:endParaRPr lang="en-KE" sz="2000" i="1" dirty="0">
              <a:solidFill>
                <a:srgbClr val="007E78"/>
              </a:solidFill>
            </a:endParaRPr>
          </a:p>
        </p:txBody>
      </p:sp>
      <p:sp>
        <p:nvSpPr>
          <p:cNvPr id="10" name="Master Footer — Row Health"/>
          <p:cNvSpPr txBox="1"/>
          <p:nvPr/>
        </p:nvSpPr>
        <p:spPr>
          <a:xfrm>
            <a:off x="178420" y="6494285"/>
            <a:ext cx="299454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2000" b="1" dirty="0">
                <a:solidFill>
                  <a:srgbClr val="017E78"/>
                </a:solidFill>
                <a:latin typeface="Segoe UI"/>
              </a:rPr>
              <a:t>row health</a:t>
            </a:r>
          </a:p>
        </p:txBody>
      </p:sp>
      <p:sp>
        <p:nvSpPr>
          <p:cNvPr id="11" name="Master Footer — Slide Number"/>
          <p:cNvSpPr txBox="1"/>
          <p:nvPr/>
        </p:nvSpPr>
        <p:spPr>
          <a:xfrm>
            <a:off x="8613648" y="6549772"/>
            <a:ext cx="3262401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6798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017E78"/>
            </a:gs>
            <a:gs pos="70000">
              <a:srgbClr val="002E2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F82B3-BE39-A364-EE32-B693876D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A548D-F1FB-72E8-93A1-3AEB83858D2F}"/>
              </a:ext>
            </a:extLst>
          </p:cNvPr>
          <p:cNvSpPr txBox="1"/>
          <p:nvPr/>
        </p:nvSpPr>
        <p:spPr>
          <a:xfrm>
            <a:off x="87086" y="2819401"/>
            <a:ext cx="12006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Thank you!</a:t>
            </a:r>
          </a:p>
          <a:p>
            <a:pPr algn="ctr"/>
            <a:endParaRPr lang="en-KE" sz="6000" dirty="0">
              <a:solidFill>
                <a:schemeClr val="bg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Master Footer — Slide Number"/>
          <p:cNvSpPr txBox="1"/>
          <p:nvPr/>
        </p:nvSpPr>
        <p:spPr>
          <a:xfrm>
            <a:off x="8613648" y="6503167"/>
            <a:ext cx="3240098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07E78"/>
                </a:solidFill>
                <a:latin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1755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017E78"/>
            </a:gs>
            <a:gs pos="70000">
              <a:srgbClr val="002E2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3EC1F-1F69-5680-C1BC-257BCF60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04718-E90F-8417-9D3D-9DAD18F05C37}"/>
              </a:ext>
            </a:extLst>
          </p:cNvPr>
          <p:cNvSpPr txBox="1"/>
          <p:nvPr/>
        </p:nvSpPr>
        <p:spPr>
          <a:xfrm>
            <a:off x="87086" y="2819401"/>
            <a:ext cx="12006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Appendix</a:t>
            </a:r>
          </a:p>
          <a:p>
            <a:pPr algn="ctr"/>
            <a:endParaRPr lang="en-KE" sz="6000" dirty="0">
              <a:solidFill>
                <a:schemeClr val="bg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Master Footer — Slide Number"/>
          <p:cNvSpPr txBox="1"/>
          <p:nvPr/>
        </p:nvSpPr>
        <p:spPr>
          <a:xfrm>
            <a:off x="8613648" y="6525469"/>
            <a:ext cx="32512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07E78"/>
                </a:solidFill>
                <a:latin typeface="Segoe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5653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9E3B-759A-32B8-4C64-66C408A8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307209-74DC-345B-FC4D-F13F557236C8}"/>
              </a:ext>
            </a:extLst>
          </p:cNvPr>
          <p:cNvSpPr txBox="1"/>
          <p:nvPr/>
        </p:nvSpPr>
        <p:spPr>
          <a:xfrm>
            <a:off x="783771" y="346501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E78"/>
                </a:solidFill>
              </a:rPr>
              <a:t>Technical Process</a:t>
            </a:r>
            <a:endParaRPr lang="en-KE" sz="3600" dirty="0">
              <a:solidFill>
                <a:srgbClr val="007E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E256A-1244-635D-43F8-0E33BF419A81}"/>
              </a:ext>
            </a:extLst>
          </p:cNvPr>
          <p:cNvSpPr txBox="1"/>
          <p:nvPr/>
        </p:nvSpPr>
        <p:spPr>
          <a:xfrm>
            <a:off x="821871" y="1278915"/>
            <a:ext cx="1054825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Dataset Stats:</a:t>
            </a:r>
          </a:p>
          <a:p>
            <a:endParaRPr lang="en-US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12 unique campaigns were analyzed across 6 different campaign types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Data ranges from January 1,</a:t>
            </a:r>
            <a:r>
              <a:rPr lang="en-US" sz="1600" baseline="30000" dirty="0"/>
              <a:t>  </a:t>
            </a:r>
            <a:r>
              <a:rPr lang="en-US" sz="1600" dirty="0"/>
              <a:t>2026 to March 31, 2026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Clr>
                <a:srgbClr val="017E78"/>
              </a:buClr>
            </a:pPr>
            <a:r>
              <a:rPr lang="en-US" sz="2000" b="1" dirty="0"/>
              <a:t>Data points involved:</a:t>
            </a:r>
          </a:p>
          <a:p>
            <a:pPr>
              <a:buClr>
                <a:srgbClr val="017E78"/>
              </a:buClr>
            </a:pPr>
            <a:endParaRPr lang="en-US" sz="1600" b="1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Campaigns: campaign category, campaign type, clicks, cost, impressions (43 total records)</a:t>
            </a:r>
          </a:p>
          <a:p>
            <a:pPr>
              <a:buClr>
                <a:srgbClr val="017E78"/>
              </a:buClr>
            </a:pPr>
            <a:endParaRPr lang="en-US" sz="1600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pPr>
              <a:buClr>
                <a:srgbClr val="017E78"/>
              </a:buClr>
            </a:pPr>
            <a:r>
              <a:rPr lang="en-US" sz="1600" dirty="0"/>
              <a:t>The technical process included</a:t>
            </a:r>
            <a:r>
              <a:rPr lang="en-US" sz="1600" b="1" dirty="0"/>
              <a:t>:</a:t>
            </a:r>
          </a:p>
          <a:p>
            <a:pPr>
              <a:buClr>
                <a:srgbClr val="017E78"/>
              </a:buClr>
            </a:pPr>
            <a:endParaRPr lang="en-US" sz="1600" dirty="0"/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Loading data into Tableau from Excel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Build a self-service dashboard for visualization in Tableau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Use calculated functions to calculate CTR, CPC, and signup rate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Use filters to alternate views based on plan, state, and campaign type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Minimal data cleaning was needed for this dataset, but could involve checking for nulls and nonsensical</a:t>
            </a:r>
          </a:p>
          <a:p>
            <a:pPr>
              <a:buClr>
                <a:srgbClr val="017E78"/>
              </a:buClr>
            </a:pPr>
            <a:r>
              <a:rPr lang="en-US" sz="1600" dirty="0"/>
              <a:t>       values, aligning data types, and augmenting missing data</a:t>
            </a:r>
          </a:p>
          <a:p>
            <a:pPr marL="285750" indent="-285750">
              <a:buClr>
                <a:srgbClr val="017E78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pPr>
              <a:buClr>
                <a:srgbClr val="017E78"/>
              </a:buClr>
            </a:pPr>
            <a:endParaRPr lang="en-US" sz="1600" dirty="0"/>
          </a:p>
          <a:p>
            <a:endParaRPr lang="en-KE" dirty="0"/>
          </a:p>
        </p:txBody>
      </p:sp>
      <p:sp>
        <p:nvSpPr>
          <p:cNvPr id="8" name="Master Footer — Row Health"/>
          <p:cNvSpPr txBox="1"/>
          <p:nvPr/>
        </p:nvSpPr>
        <p:spPr>
          <a:xfrm>
            <a:off x="189571" y="6470940"/>
            <a:ext cx="2983397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2000" b="1" dirty="0">
                <a:solidFill>
                  <a:srgbClr val="017E78"/>
                </a:solidFill>
                <a:latin typeface="Segoe UI"/>
              </a:rPr>
              <a:t>row health</a:t>
            </a:r>
          </a:p>
        </p:txBody>
      </p:sp>
      <p:sp>
        <p:nvSpPr>
          <p:cNvPr id="9" name="Master Footer — Slide Number"/>
          <p:cNvSpPr txBox="1"/>
          <p:nvPr/>
        </p:nvSpPr>
        <p:spPr>
          <a:xfrm>
            <a:off x="8613648" y="6586801"/>
            <a:ext cx="3307006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942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138A-29EA-B953-C228-605C9A88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C1D230-F25F-4C61-4215-C2D03206E8E3}"/>
              </a:ext>
            </a:extLst>
          </p:cNvPr>
          <p:cNvSpPr txBox="1"/>
          <p:nvPr/>
        </p:nvSpPr>
        <p:spPr>
          <a:xfrm>
            <a:off x="783771" y="346501"/>
            <a:ext cx="10472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E78"/>
                </a:solidFill>
              </a:rPr>
              <a:t>Supplementary Data – CAC (Coverage Campaigns)</a:t>
            </a:r>
            <a:endParaRPr lang="en-KE" sz="3600" dirty="0">
              <a:solidFill>
                <a:srgbClr val="007E78"/>
              </a:solidFill>
            </a:endParaRPr>
          </a:p>
        </p:txBody>
      </p:sp>
      <p:graphicFrame>
        <p:nvGraphicFramePr>
          <p:cNvPr id="4" name="CA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66750"/>
              </p:ext>
            </p:extLst>
          </p:nvPr>
        </p:nvGraphicFramePr>
        <p:xfrm>
          <a:off x="2383971" y="992832"/>
          <a:ext cx="6312487" cy="5865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346">
                <a:tc rowSpan="3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41414"/>
                          </a:solidFill>
                          <a:latin typeface="Aptos"/>
                        </a:rPr>
                        <a:t>Covid Awareness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Tailored Health Plans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4.1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Compare Health Coverage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1.4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#CoverageMatters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0.5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346">
                <a:tc rowSpan="6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41414"/>
                          </a:solidFill>
                          <a:latin typeface="Aptos"/>
                        </a:rPr>
                        <a:t>Customer Testimonial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Benefit Updates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44.8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Family Coverage Plan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14.8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Preventive Care News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6.8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#HealthyLiving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1.3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#CoverageMatters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0.7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Health For All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0.6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346">
                <a:tc rowSpan="10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41414"/>
                          </a:solidFill>
                          <a:latin typeface="Aptos"/>
                        </a:rPr>
                        <a:t>Health Awareness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Golden Years Security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129.7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Benefit Updates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47.5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Affordable Plans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18.9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Summer Wellness Tips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11.5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#InsureYourHealth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9.4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Family Coverage Plan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9.2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Preventive Care News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5.8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Tailored Health Plans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2.8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#HealthyLiving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#CoverageMatters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0.9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4346">
                <a:tc rowSpan="6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41414"/>
                          </a:solidFill>
                          <a:latin typeface="Aptos"/>
                        </a:rPr>
                        <a:t>Offer Announcement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Golden Years Security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216.6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Family Coverage Plan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8.3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Tailored Health Plans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Compare Health Coverage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1.3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#HealthyLiving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0.9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Health For All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0.6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4346">
                <a:tc rowSpan="10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41414"/>
                          </a:solidFill>
                          <a:latin typeface="Aptos"/>
                        </a:rPr>
                        <a:t>Policy Information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Family Coverage Plan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94.9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Golden Years Security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35.6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Affordable Plans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17.0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#InsureYourHealth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13.0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Summer Wellness Tips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8.5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Preventive Care News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5.5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Tailored Health Plans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2.1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Compare Health Coverage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1.8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#HealthyLiving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1.2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Health For All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0.5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4346">
                <a:tc rowSpan="3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41414"/>
                          </a:solidFill>
                          <a:latin typeface="Aptos"/>
                        </a:rPr>
                        <a:t>Product Promotion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Golden Years Security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252.7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Benefit Updates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57.3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543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41414"/>
                          </a:solidFill>
                          <a:latin typeface="Aptos"/>
                        </a:rPr>
                        <a:t>#InsureYourHealth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141414"/>
                          </a:solidFill>
                          <a:latin typeface="Aptos"/>
                        </a:rPr>
                        <a:t>14.9</a:t>
                      </a:r>
                    </a:p>
                  </a:txBody>
                  <a:tcPr marL="25400" marR="254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</a:tbl>
          </a:graphicData>
        </a:graphic>
      </p:graphicFrame>
      <p:cxnSp>
        <p:nvCxnSpPr>
          <p:cNvPr id="5" name="Section Border Benefit Updates 44.8"/>
          <p:cNvCxnSpPr/>
          <p:nvPr/>
        </p:nvCxnSpPr>
        <p:spPr>
          <a:xfrm>
            <a:off x="2383971" y="1455870"/>
            <a:ext cx="6312487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ction Border Golden Years Security 129.7"/>
          <p:cNvCxnSpPr/>
          <p:nvPr/>
        </p:nvCxnSpPr>
        <p:spPr>
          <a:xfrm>
            <a:off x="2383971" y="2381946"/>
            <a:ext cx="6312487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ction Border Golden Years Security 216.6"/>
          <p:cNvCxnSpPr/>
          <p:nvPr/>
        </p:nvCxnSpPr>
        <p:spPr>
          <a:xfrm>
            <a:off x="2383971" y="3925406"/>
            <a:ext cx="6312487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ction Border Family Coverage Plan 94.9"/>
          <p:cNvCxnSpPr/>
          <p:nvPr/>
        </p:nvCxnSpPr>
        <p:spPr>
          <a:xfrm>
            <a:off x="2383971" y="4851482"/>
            <a:ext cx="6312487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ection Border Golden Years Security 252.7"/>
          <p:cNvCxnSpPr/>
          <p:nvPr/>
        </p:nvCxnSpPr>
        <p:spPr>
          <a:xfrm>
            <a:off x="2383971" y="6394942"/>
            <a:ext cx="6312487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aster Footer — Slide Number"/>
          <p:cNvSpPr txBox="1"/>
          <p:nvPr/>
        </p:nvSpPr>
        <p:spPr>
          <a:xfrm>
            <a:off x="8613648" y="6507849"/>
            <a:ext cx="3344176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22945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051A-FE06-5F97-8B21-23BC5697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1FD79-FED6-B67C-0446-55BB6935DD3C}"/>
              </a:ext>
            </a:extLst>
          </p:cNvPr>
          <p:cNvSpPr txBox="1"/>
          <p:nvPr/>
        </p:nvSpPr>
        <p:spPr>
          <a:xfrm>
            <a:off x="783771" y="346501"/>
            <a:ext cx="10472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E78"/>
                </a:solidFill>
              </a:rPr>
              <a:t>Supplementary Data – Spend by Category</a:t>
            </a:r>
            <a:endParaRPr lang="en-KE" sz="3600" dirty="0">
              <a:solidFill>
                <a:srgbClr val="007E78"/>
              </a:solidFill>
            </a:endParaRPr>
          </a:p>
        </p:txBody>
      </p:sp>
      <p:pic>
        <p:nvPicPr>
          <p:cNvPr id="7" name="Picture 3" descr="image-64560438e7f3b72851f23982be14bab3.jpg"/>
          <p:cNvPicPr>
            <a:picLocks noChangeAspect="1"/>
          </p:cNvPicPr>
          <p:nvPr/>
        </p:nvPicPr>
        <p:blipFill>
          <a:blip r:embed="rId2"/>
          <a:srcRect t="638" r="35008" b="45534"/>
          <a:stretch>
            <a:fillRect/>
          </a:stretch>
        </p:blipFill>
        <p:spPr>
          <a:xfrm>
            <a:off x="2936836" y="1436914"/>
            <a:ext cx="5956793" cy="4931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2F0C68-F429-FE3B-54D1-B68E8A3EB2E5}"/>
              </a:ext>
            </a:extLst>
          </p:cNvPr>
          <p:cNvSpPr txBox="1"/>
          <p:nvPr/>
        </p:nvSpPr>
        <p:spPr>
          <a:xfrm>
            <a:off x="2166258" y="1036804"/>
            <a:ext cx="7088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Campaign Category Spend (Q1 2026)</a:t>
            </a:r>
            <a:endParaRPr lang="en-KE" sz="2000" b="1" dirty="0"/>
          </a:p>
        </p:txBody>
      </p:sp>
      <p:cxnSp>
        <p:nvCxnSpPr>
          <p:cNvPr id="8" name="Top Border"/>
          <p:cNvCxnSpPr/>
          <p:nvPr/>
        </p:nvCxnSpPr>
        <p:spPr>
          <a:xfrm>
            <a:off x="3054096" y="1481328"/>
            <a:ext cx="5422392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otal Border"/>
          <p:cNvCxnSpPr/>
          <p:nvPr/>
        </p:nvCxnSpPr>
        <p:spPr>
          <a:xfrm>
            <a:off x="3054096" y="5961888"/>
            <a:ext cx="5422392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aster Footer — Slide Number"/>
          <p:cNvSpPr txBox="1"/>
          <p:nvPr/>
        </p:nvSpPr>
        <p:spPr>
          <a:xfrm>
            <a:off x="8613648" y="6525063"/>
            <a:ext cx="3329308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>
                <a:solidFill>
                  <a:srgbClr val="017E78"/>
                </a:solidFill>
                <a:latin typeface="Segoe U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18771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1154</Words>
  <Application>Microsoft Office PowerPoint</Application>
  <PresentationFormat>Widescreen</PresentationFormat>
  <Paragraphs>225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Segoe UI</vt:lpstr>
      <vt:lpstr>Segoe UI Black</vt:lpstr>
      <vt:lpstr>Segoe UI Light</vt:lpstr>
      <vt:lpstr>Segoe UI Variable Text</vt:lpstr>
      <vt:lpstr>Segoe UI Variable Text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ithe yayo</dc:creator>
  <cp:lastModifiedBy>ithe yayo</cp:lastModifiedBy>
  <cp:revision>17</cp:revision>
  <dcterms:created xsi:type="dcterms:W3CDTF">2026-10-22T16:07:55Z</dcterms:created>
  <dcterms:modified xsi:type="dcterms:W3CDTF">2026-10-26T04:54:32Z</dcterms:modified>
</cp:coreProperties>
</file>